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4" r:id="rId7"/>
    <p:sldId id="263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Montserrat Medium" panose="00000600000000000000" pitchFamily="2" charset="-52"/>
      <p:regular r:id="rId14"/>
      <p:bold r:id="rId15"/>
      <p:italic r:id="rId16"/>
      <p:boldItalic r:id="rId17"/>
    </p:embeddedFont>
    <p:embeddedFont>
      <p:font typeface="Montserrat SemiBold" panose="00000700000000000000" pitchFamily="2" charset="-52"/>
      <p:regular r:id="rId18"/>
      <p:bold r:id="rId19"/>
      <p:italic r:id="rId20"/>
      <p:boldItalic r:id="rId21"/>
    </p:embeddedFont>
    <p:embeddedFont>
      <p:font typeface="Roboto Mono" panose="00000009000000000000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14">
          <p15:clr>
            <a:srgbClr val="747775"/>
          </p15:clr>
        </p15:guide>
        <p15:guide id="2" orient="horz" pos="3124">
          <p15:clr>
            <a:srgbClr val="747775"/>
          </p15:clr>
        </p15:guide>
        <p15:guide id="3" pos="5556">
          <p15:clr>
            <a:srgbClr val="747775"/>
          </p15:clr>
        </p15:guide>
        <p15:guide id="4" orient="horz" pos="136">
          <p15:clr>
            <a:srgbClr val="747775"/>
          </p15:clr>
        </p15:guide>
        <p15:guide id="5" pos="2834">
          <p15:clr>
            <a:srgbClr val="747775"/>
          </p15:clr>
        </p15:guide>
        <p15:guide id="6" orient="horz" pos="469">
          <p15:clr>
            <a:srgbClr val="747775"/>
          </p15:clr>
        </p15:guide>
        <p15:guide id="7" pos="2948">
          <p15:clr>
            <a:srgbClr val="747775"/>
          </p15:clr>
        </p15:guide>
        <p15:guide id="8" orient="horz" pos="170">
          <p15:clr>
            <a:srgbClr val="747775"/>
          </p15:clr>
        </p15:guide>
        <p15:guide id="9" orient="horz" pos="2337">
          <p15:clr>
            <a:srgbClr val="747775"/>
          </p15:clr>
        </p15:guide>
        <p15:guide id="10" orient="horz" pos="1951">
          <p15:clr>
            <a:srgbClr val="747775"/>
          </p15:clr>
        </p15:guide>
        <p15:guide id="11" pos="5647">
          <p15:clr>
            <a:srgbClr val="747775"/>
          </p15:clr>
        </p15:guide>
        <p15:guide id="12" orient="horz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FFF"/>
    <a:srgbClr val="4A59B9"/>
    <a:srgbClr val="A8B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72" autoAdjust="0"/>
  </p:normalViewPr>
  <p:slideViewPr>
    <p:cSldViewPr snapToGrid="0">
      <p:cViewPr>
        <p:scale>
          <a:sx n="66" d="100"/>
          <a:sy n="66" d="100"/>
        </p:scale>
        <p:origin x="282" y="2280"/>
      </p:cViewPr>
      <p:guideLst>
        <p:guide pos="114"/>
        <p:guide orient="horz" pos="3124"/>
        <p:guide pos="5556"/>
        <p:guide orient="horz" pos="136"/>
        <p:guide pos="2834"/>
        <p:guide orient="horz" pos="469"/>
        <p:guide pos="2948"/>
        <p:guide orient="horz" pos="170"/>
        <p:guide orient="horz" pos="2337"/>
        <p:guide orient="horz" pos="1951"/>
        <p:guide pos="564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491bc2e46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491bc2e46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9f1c1d7c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9f1c1d7c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4560ef998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4560ef998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9f1c1d7c2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9f1c1d7c2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9f1c1d7c2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9f1c1d7c2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9f1c1d7c2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9f1c1d7c2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822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a8594e8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a8594e85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21990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Roboto Mono"/>
              <a:buNone/>
              <a:defRPr sz="4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0550" y="21990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 Mono"/>
              <a:buChar char="●"/>
              <a:defRPr sz="12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○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■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●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○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■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●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○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 Medium"/>
              <a:buChar char="■"/>
              <a:defRPr sz="1000">
                <a:solidFill>
                  <a:schemeClr val="lt2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pull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nogradovVladimir/tbank-payment-blocks-cas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/>
        </p:nvSpPr>
        <p:spPr>
          <a:xfrm>
            <a:off x="176650" y="216625"/>
            <a:ext cx="6449400" cy="177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8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Блокировка платежей</a:t>
            </a:r>
            <a:endParaRPr sz="6800" b="1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24"/>
          <p:cNvSpPr txBox="1"/>
          <p:nvPr/>
        </p:nvSpPr>
        <p:spPr>
          <a:xfrm>
            <a:off x="176650" y="4327775"/>
            <a:ext cx="4493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Кейс по направлению </a:t>
            </a:r>
            <a:r>
              <a:rPr lang="en-US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</a:t>
            </a:r>
            <a:r>
              <a:rPr lang="ru-RU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Системная аналитик</a:t>
            </a:r>
            <a:r>
              <a:rPr lang="en-US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Подготовил Виноградов Владимир</a:t>
            </a:r>
            <a:endParaRPr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1BC3EA2-FC64-28DE-A336-55D2112DFC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6283"/>
          <a:stretch/>
        </p:blipFill>
        <p:spPr bwMode="auto">
          <a:xfrm>
            <a:off x="7279763" y="335332"/>
            <a:ext cx="1687587" cy="154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/>
        </p:nvSpPr>
        <p:spPr>
          <a:xfrm>
            <a:off x="180000" y="216625"/>
            <a:ext cx="4233250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Проблема </a:t>
            </a:r>
            <a:r>
              <a:rPr lang="en-US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/ </a:t>
            </a:r>
            <a:endParaRPr lang="ru-RU" sz="51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endParaRPr sz="51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325525" y="2505984"/>
            <a:ext cx="3130906" cy="160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Отсутствуют инструменты для оперативного реагирования на мошеннические операции и случаи ошибочных платежей, что </a:t>
            </a:r>
            <a:r>
              <a:rPr lang="ru-RU" u="sng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приводит к прямым финансовым потерям и репутационным рискам</a:t>
            </a:r>
            <a:endParaRPr u="sng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7890300" y="4827575"/>
            <a:ext cx="106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sz="10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5559623" y="2505984"/>
            <a:ext cx="2922327" cy="153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Создать централизованную систему контроля платежных операций с возможностью мгновенной блокировки подозрительных транзакций и гибким управлением доступа к счёту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B0ED8929-A3CE-9833-6F07-EE1A43C8AF87}"/>
              </a:ext>
            </a:extLst>
          </p:cNvPr>
          <p:cNvCxnSpPr/>
          <p:nvPr/>
        </p:nvCxnSpPr>
        <p:spPr>
          <a:xfrm>
            <a:off x="3992626" y="3002360"/>
            <a:ext cx="86537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6">
            <a:extLst>
              <a:ext uri="{FF2B5EF4-FFF2-40B4-BE49-F238E27FC236}">
                <a16:creationId xmlns:a16="http://schemas.microsoft.com/office/drawing/2014/main" id="{78C0203D-E474-AFDB-77DF-2327B675B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550" y="169225"/>
            <a:ext cx="970799" cy="29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/>
        </p:nvSpPr>
        <p:spPr>
          <a:xfrm>
            <a:off x="176650" y="216625"/>
            <a:ext cx="4998854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Предлагаемое решение</a:t>
            </a:r>
            <a:endParaRPr sz="51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227075" y="4827575"/>
            <a:ext cx="8731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sz="10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9808080-F5B4-FA7A-8E91-FC5E1214F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551" y="169225"/>
            <a:ext cx="970799" cy="29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30;p27">
            <a:extLst>
              <a:ext uri="{FF2B5EF4-FFF2-40B4-BE49-F238E27FC236}">
                <a16:creationId xmlns:a16="http://schemas.microsoft.com/office/drawing/2014/main" id="{6ACDB59B-8B2C-AEAB-E198-C24790E196A0}"/>
              </a:ext>
            </a:extLst>
          </p:cNvPr>
          <p:cNvSpPr txBox="1"/>
          <p:nvPr/>
        </p:nvSpPr>
        <p:spPr>
          <a:xfrm>
            <a:off x="4572000" y="3838177"/>
            <a:ext cx="396301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Структура таблицы с флагом активности и историей операций обеспечивает высокую производительность проверок при любых нагрузках.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Специальные индексы гарантируют мгновенное определение статуса клиента.</a:t>
            </a:r>
            <a:endParaRPr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Google Shape;131;p27">
            <a:extLst>
              <a:ext uri="{FF2B5EF4-FFF2-40B4-BE49-F238E27FC236}">
                <a16:creationId xmlns:a16="http://schemas.microsoft.com/office/drawing/2014/main" id="{A0F8A251-F5D2-2FF3-E14F-768EBD57345C}"/>
              </a:ext>
            </a:extLst>
          </p:cNvPr>
          <p:cNvSpPr txBox="1"/>
          <p:nvPr/>
        </p:nvSpPr>
        <p:spPr>
          <a:xfrm>
            <a:off x="4592675" y="2282756"/>
            <a:ext cx="3945685" cy="1158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Сервис предлагает простые и понятные </a:t>
            </a:r>
            <a:r>
              <a:rPr lang="ru-RU" sz="10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endpoint'ы</a:t>
            </a: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для блокировки, разблокировки и проверки статуса клиентов.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Встроенная валидация запросов и разделение типов блокировок обеспечивают надежность системы и гибкость в управлении различными сценариями рисков.</a:t>
            </a:r>
            <a:endParaRPr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" name="Google Shape;133;p27">
            <a:extLst>
              <a:ext uri="{FF2B5EF4-FFF2-40B4-BE49-F238E27FC236}">
                <a16:creationId xmlns:a16="http://schemas.microsoft.com/office/drawing/2014/main" id="{B730EA67-6713-41C9-DDB4-59BD730F41F1}"/>
              </a:ext>
            </a:extLst>
          </p:cNvPr>
          <p:cNvSpPr txBox="1"/>
          <p:nvPr/>
        </p:nvSpPr>
        <p:spPr>
          <a:xfrm>
            <a:off x="176650" y="2286094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134;p27">
            <a:extLst>
              <a:ext uri="{FF2B5EF4-FFF2-40B4-BE49-F238E27FC236}">
                <a16:creationId xmlns:a16="http://schemas.microsoft.com/office/drawing/2014/main" id="{FA7F9052-EC24-4D58-8F03-A9B71E712DE2}"/>
              </a:ext>
            </a:extLst>
          </p:cNvPr>
          <p:cNvSpPr txBox="1"/>
          <p:nvPr/>
        </p:nvSpPr>
        <p:spPr>
          <a:xfrm>
            <a:off x="176650" y="3847164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" name="Google Shape;111;p26">
            <a:extLst>
              <a:ext uri="{FF2B5EF4-FFF2-40B4-BE49-F238E27FC236}">
                <a16:creationId xmlns:a16="http://schemas.microsoft.com/office/drawing/2014/main" id="{147C6B61-0BB9-4CBF-662D-177F35AF3851}"/>
              </a:ext>
            </a:extLst>
          </p:cNvPr>
          <p:cNvSpPr txBox="1"/>
          <p:nvPr/>
        </p:nvSpPr>
        <p:spPr>
          <a:xfrm>
            <a:off x="605640" y="2288464"/>
            <a:ext cx="3687771" cy="22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13FFF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API-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13FFF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сервис </a:t>
            </a:r>
            <a:r>
              <a:rPr lang="ru-RU" dirty="0">
                <a:solidFill>
                  <a:schemeClr val="dk1"/>
                </a:solidFill>
                <a:latin typeface="Montserrat SemiBold"/>
                <a:sym typeface="Montserrat SemiBold"/>
              </a:rPr>
              <a:t>управления блокировками </a:t>
            </a:r>
          </a:p>
        </p:txBody>
      </p:sp>
      <p:sp>
        <p:nvSpPr>
          <p:cNvPr id="19" name="Google Shape;116;p26">
            <a:extLst>
              <a:ext uri="{FF2B5EF4-FFF2-40B4-BE49-F238E27FC236}">
                <a16:creationId xmlns:a16="http://schemas.microsoft.com/office/drawing/2014/main" id="{3B313F7B-238E-C401-87CE-261CCC001E96}"/>
              </a:ext>
            </a:extLst>
          </p:cNvPr>
          <p:cNvSpPr txBox="1"/>
          <p:nvPr/>
        </p:nvSpPr>
        <p:spPr>
          <a:xfrm>
            <a:off x="608990" y="3838177"/>
            <a:ext cx="235519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213FFF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Структура базы данных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213FFF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180000" y="216625"/>
            <a:ext cx="4392000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Схема работы</a:t>
            </a:r>
            <a:endParaRPr sz="51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7890300" y="4827575"/>
            <a:ext cx="106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sz="1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180000" y="234145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180000" y="347999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44C42FC-7D48-FFB8-614D-FE971BDF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501" y="169225"/>
            <a:ext cx="970799" cy="29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lantUML diagram">
            <a:extLst>
              <a:ext uri="{FF2B5EF4-FFF2-40B4-BE49-F238E27FC236}">
                <a16:creationId xmlns:a16="http://schemas.microsoft.com/office/drawing/2014/main" id="{3BA395BD-6C86-3D5B-C29B-ACFB3493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172" y="190382"/>
            <a:ext cx="4191128" cy="473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31;p27">
            <a:extLst>
              <a:ext uri="{FF2B5EF4-FFF2-40B4-BE49-F238E27FC236}">
                <a16:creationId xmlns:a16="http://schemas.microsoft.com/office/drawing/2014/main" id="{4DF63750-7EA4-A81E-5C1E-A4E598EC96B4}"/>
              </a:ext>
            </a:extLst>
          </p:cNvPr>
          <p:cNvSpPr txBox="1"/>
          <p:nvPr/>
        </p:nvSpPr>
        <p:spPr>
          <a:xfrm>
            <a:off x="716066" y="2326194"/>
            <a:ext cx="2344634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Оператор отправляет запросы API, которое взаимодействует с базой данных для создания или снятия ограничений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Google Shape;131;p27">
            <a:extLst>
              <a:ext uri="{FF2B5EF4-FFF2-40B4-BE49-F238E27FC236}">
                <a16:creationId xmlns:a16="http://schemas.microsoft.com/office/drawing/2014/main" id="{DEE0DED1-31AC-BD5F-0B54-5FF165706E06}"/>
              </a:ext>
            </a:extLst>
          </p:cNvPr>
          <p:cNvSpPr txBox="1"/>
          <p:nvPr/>
        </p:nvSpPr>
        <p:spPr>
          <a:xfrm>
            <a:off x="730822" y="3479990"/>
            <a:ext cx="2344634" cy="48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 каждом платеже сервис обращается к API для получения актуального статуса блокировки</a:t>
            </a:r>
          </a:p>
        </p:txBody>
      </p:sp>
    </p:spTree>
  </p:cSld>
  <p:clrMapOvr>
    <a:masterClrMapping/>
  </p:clrMapOvr>
  <p:transition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/>
        </p:nvSpPr>
        <p:spPr>
          <a:xfrm>
            <a:off x="176650" y="216625"/>
            <a:ext cx="5584070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Ключевые преимущества</a:t>
            </a:r>
            <a:endParaRPr sz="5100" b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7287375" y="4827575"/>
            <a:ext cx="1671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05</a:t>
            </a:r>
            <a:endParaRPr sz="1000">
              <a:solidFill>
                <a:schemeClr val="bg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Google Shape;111;p26">
            <a:extLst>
              <a:ext uri="{FF2B5EF4-FFF2-40B4-BE49-F238E27FC236}">
                <a16:creationId xmlns:a16="http://schemas.microsoft.com/office/drawing/2014/main" id="{026D3DA2-FE55-7FF1-3EFD-0FD243903B8A}"/>
              </a:ext>
            </a:extLst>
          </p:cNvPr>
          <p:cNvSpPr txBox="1"/>
          <p:nvPr/>
        </p:nvSpPr>
        <p:spPr>
          <a:xfrm>
            <a:off x="608990" y="2571750"/>
            <a:ext cx="346771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Быстрое реагирование на угрозы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" name="Google Shape;112;p26">
            <a:extLst>
              <a:ext uri="{FF2B5EF4-FFF2-40B4-BE49-F238E27FC236}">
                <a16:creationId xmlns:a16="http://schemas.microsoft.com/office/drawing/2014/main" id="{DCC6D9E3-2847-36DF-F4CB-DE9815866FBA}"/>
              </a:ext>
            </a:extLst>
          </p:cNvPr>
          <p:cNvSpPr txBox="1"/>
          <p:nvPr/>
        </p:nvSpPr>
        <p:spPr>
          <a:xfrm>
            <a:off x="180000" y="257175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Google Shape;114;p26">
            <a:extLst>
              <a:ext uri="{FF2B5EF4-FFF2-40B4-BE49-F238E27FC236}">
                <a16:creationId xmlns:a16="http://schemas.microsoft.com/office/drawing/2014/main" id="{79D7434F-EF51-26DA-3BC5-1C740ACF004E}"/>
              </a:ext>
            </a:extLst>
          </p:cNvPr>
          <p:cNvSpPr txBox="1"/>
          <p:nvPr/>
        </p:nvSpPr>
        <p:spPr>
          <a:xfrm>
            <a:off x="5112339" y="2571750"/>
            <a:ext cx="3846035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Полный аудит действий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Google Shape;115;p26">
            <a:extLst>
              <a:ext uri="{FF2B5EF4-FFF2-40B4-BE49-F238E27FC236}">
                <a16:creationId xmlns:a16="http://schemas.microsoft.com/office/drawing/2014/main" id="{AB5A4C79-C527-E323-3DED-3EBBACA7EE9B}"/>
              </a:ext>
            </a:extLst>
          </p:cNvPr>
          <p:cNvSpPr txBox="1"/>
          <p:nvPr/>
        </p:nvSpPr>
        <p:spPr>
          <a:xfrm>
            <a:off x="4679990" y="257175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" name="Google Shape;116;p26">
            <a:extLst>
              <a:ext uri="{FF2B5EF4-FFF2-40B4-BE49-F238E27FC236}">
                <a16:creationId xmlns:a16="http://schemas.microsoft.com/office/drawing/2014/main" id="{053273B9-9805-71CE-E6F7-7E4D0DE2CF12}"/>
              </a:ext>
            </a:extLst>
          </p:cNvPr>
          <p:cNvSpPr txBox="1"/>
          <p:nvPr/>
        </p:nvSpPr>
        <p:spPr>
          <a:xfrm>
            <a:off x="608990" y="3234700"/>
            <a:ext cx="346771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Разделение причин блокировок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" name="Google Shape;117;p26">
            <a:extLst>
              <a:ext uri="{FF2B5EF4-FFF2-40B4-BE49-F238E27FC236}">
                <a16:creationId xmlns:a16="http://schemas.microsoft.com/office/drawing/2014/main" id="{E3E3EE2C-4EB1-0109-851B-3D6582C36E9F}"/>
              </a:ext>
            </a:extLst>
          </p:cNvPr>
          <p:cNvSpPr txBox="1"/>
          <p:nvPr/>
        </p:nvSpPr>
        <p:spPr>
          <a:xfrm>
            <a:off x="180000" y="323470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" name="Google Shape;118;p26">
            <a:extLst>
              <a:ext uri="{FF2B5EF4-FFF2-40B4-BE49-F238E27FC236}">
                <a16:creationId xmlns:a16="http://schemas.microsoft.com/office/drawing/2014/main" id="{DE383F46-025A-915B-936F-8EEE88DE5F2E}"/>
              </a:ext>
            </a:extLst>
          </p:cNvPr>
          <p:cNvSpPr txBox="1"/>
          <p:nvPr/>
        </p:nvSpPr>
        <p:spPr>
          <a:xfrm>
            <a:off x="5112340" y="3234700"/>
            <a:ext cx="366336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Простата интеграции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" name="Google Shape;119;p26">
            <a:extLst>
              <a:ext uri="{FF2B5EF4-FFF2-40B4-BE49-F238E27FC236}">
                <a16:creationId xmlns:a16="http://schemas.microsoft.com/office/drawing/2014/main" id="{EC82A7FC-75AD-26A2-4D52-347EEF5ABA34}"/>
              </a:ext>
            </a:extLst>
          </p:cNvPr>
          <p:cNvSpPr txBox="1"/>
          <p:nvPr/>
        </p:nvSpPr>
        <p:spPr>
          <a:xfrm>
            <a:off x="4679990" y="323470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" name="Google Shape;120;p26">
            <a:extLst>
              <a:ext uri="{FF2B5EF4-FFF2-40B4-BE49-F238E27FC236}">
                <a16:creationId xmlns:a16="http://schemas.microsoft.com/office/drawing/2014/main" id="{F595B306-00AE-A158-378B-11EB8D352B70}"/>
              </a:ext>
            </a:extLst>
          </p:cNvPr>
          <p:cNvSpPr txBox="1"/>
          <p:nvPr/>
        </p:nvSpPr>
        <p:spPr>
          <a:xfrm>
            <a:off x="608990" y="3897650"/>
            <a:ext cx="327721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Гарантия целостности</a:t>
            </a:r>
          </a:p>
        </p:txBody>
      </p:sp>
      <p:sp>
        <p:nvSpPr>
          <p:cNvPr id="11" name="Google Shape;121;p26">
            <a:extLst>
              <a:ext uri="{FF2B5EF4-FFF2-40B4-BE49-F238E27FC236}">
                <a16:creationId xmlns:a16="http://schemas.microsoft.com/office/drawing/2014/main" id="{44431CD5-02E0-88D9-7155-909DC411C297}"/>
              </a:ext>
            </a:extLst>
          </p:cNvPr>
          <p:cNvSpPr txBox="1"/>
          <p:nvPr/>
        </p:nvSpPr>
        <p:spPr>
          <a:xfrm>
            <a:off x="180000" y="389765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" name="Google Shape;122;p26">
            <a:extLst>
              <a:ext uri="{FF2B5EF4-FFF2-40B4-BE49-F238E27FC236}">
                <a16:creationId xmlns:a16="http://schemas.microsoft.com/office/drawing/2014/main" id="{8CE10F11-0877-8B61-0718-51D2B403111E}"/>
              </a:ext>
            </a:extLst>
          </p:cNvPr>
          <p:cNvSpPr txBox="1"/>
          <p:nvPr/>
        </p:nvSpPr>
        <p:spPr>
          <a:xfrm>
            <a:off x="5112340" y="3897650"/>
            <a:ext cx="314266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Высокая производительность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" name="Google Shape;123;p26">
            <a:extLst>
              <a:ext uri="{FF2B5EF4-FFF2-40B4-BE49-F238E27FC236}">
                <a16:creationId xmlns:a16="http://schemas.microsoft.com/office/drawing/2014/main" id="{B72606D1-1E78-7309-F988-3A49CF390505}"/>
              </a:ext>
            </a:extLst>
          </p:cNvPr>
          <p:cNvSpPr txBox="1"/>
          <p:nvPr/>
        </p:nvSpPr>
        <p:spPr>
          <a:xfrm>
            <a:off x="4679990" y="3897650"/>
            <a:ext cx="2688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06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ransition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180000" y="216625"/>
            <a:ext cx="5699592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Ссылки на документацию</a:t>
            </a:r>
            <a:endParaRPr sz="51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7890300" y="4827575"/>
            <a:ext cx="106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06</a:t>
            </a:r>
            <a:endParaRPr sz="10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441257" y="2147383"/>
            <a:ext cx="38592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dirty="0">
                <a:solidFill>
                  <a:srgbClr val="213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Ссылка на </a:t>
            </a:r>
            <a:r>
              <a:rPr lang="en-US" sz="1600" dirty="0">
                <a:solidFill>
                  <a:srgbClr val="213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GitHub: </a:t>
            </a:r>
            <a:r>
              <a:rPr lang="ru-RU" sz="1600" dirty="0">
                <a:solidFill>
                  <a:srgbClr val="213FFF"/>
                </a:solidFill>
                <a:latin typeface="Montserrat SemiBold"/>
                <a:ea typeface="Montserrat SemiBold"/>
                <a:cs typeface="Montserrat SemiBold"/>
                <a:sym typeface="Montserrat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клик здесь</a:t>
            </a:r>
            <a:endParaRPr lang="en-US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213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Или</a:t>
            </a:r>
            <a:r>
              <a:rPr lang="en-US" sz="1600" dirty="0">
                <a:solidFill>
                  <a:srgbClr val="213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</a:t>
            </a:r>
            <a:endParaRPr lang="ru" sz="1600" dirty="0">
              <a:solidFill>
                <a:srgbClr val="213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8A5AAB46-4359-8E69-3717-5F8A5AD74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551" y="216625"/>
            <a:ext cx="970799" cy="29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 descr="Изображение выглядит как шаблон, Цвет Majorelle blue, Симметрия, сини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BACA1E-1AC0-14CC-FBC5-C91D10EB7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832" y="3009157"/>
            <a:ext cx="1670050" cy="1670050"/>
          </a:xfrm>
          <a:prstGeom prst="rect">
            <a:avLst/>
          </a:prstGeom>
        </p:spPr>
      </p:pic>
      <p:sp>
        <p:nvSpPr>
          <p:cNvPr id="13" name="Google Shape;118;p26">
            <a:extLst>
              <a:ext uri="{FF2B5EF4-FFF2-40B4-BE49-F238E27FC236}">
                <a16:creationId xmlns:a16="http://schemas.microsoft.com/office/drawing/2014/main" id="{68719ABA-60C5-1A79-1ED2-3EA8FBD87755}"/>
              </a:ext>
            </a:extLst>
          </p:cNvPr>
          <p:cNvSpPr txBox="1"/>
          <p:nvPr/>
        </p:nvSpPr>
        <p:spPr>
          <a:xfrm>
            <a:off x="5559623" y="2147383"/>
            <a:ext cx="2922327" cy="190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Внутри представлены</a:t>
            </a:r>
            <a:r>
              <a:rPr lang="en-US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</a:t>
            </a: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lang="en-US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Документация </a:t>
            </a:r>
            <a:r>
              <a:rPr lang="en-US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Swagger </a:t>
            </a:r>
            <a:r>
              <a:rPr lang="en-US" dirty="0" err="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OpenAPI</a:t>
            </a:r>
            <a:endParaRPr lang="en-US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SQL </a:t>
            </a: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 </a:t>
            </a:r>
            <a:r>
              <a:rPr lang="en-US" dirty="0" err="1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PlantUML</a:t>
            </a:r>
            <a:r>
              <a:rPr lang="en-US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код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Диаграммы БД и </a:t>
            </a:r>
            <a:r>
              <a:rPr lang="en-US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Sequence</a:t>
            </a:r>
            <a:endParaRPr lang="ru-RU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33578756"/>
      </p:ext>
    </p:extLst>
  </p:cSld>
  <p:clrMapOvr>
    <a:masterClrMapping/>
  </p:clrMapOvr>
  <p:transition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 rotWithShape="1">
          <a:blip r:embed="rId3">
            <a:alphaModFix/>
          </a:blip>
          <a:srcRect t="7997" b="45408"/>
          <a:stretch/>
        </p:blipFill>
        <p:spPr>
          <a:xfrm>
            <a:off x="0" y="1"/>
            <a:ext cx="9144000" cy="28529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6;p34">
            <a:extLst>
              <a:ext uri="{FF2B5EF4-FFF2-40B4-BE49-F238E27FC236}">
                <a16:creationId xmlns:a16="http://schemas.microsoft.com/office/drawing/2014/main" id="{587CDAF0-9FEA-D02C-D388-1E1A2308218F}"/>
              </a:ext>
            </a:extLst>
          </p:cNvPr>
          <p:cNvSpPr txBox="1"/>
          <p:nvPr/>
        </p:nvSpPr>
        <p:spPr>
          <a:xfrm>
            <a:off x="180000" y="3332135"/>
            <a:ext cx="4931496" cy="133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85000"/>
              </a:lnSpc>
            </a:pPr>
            <a:r>
              <a:rPr lang="ru-RU" sz="5100" b="1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Спасибо за внимание</a:t>
            </a:r>
            <a:endParaRPr sz="5100" b="1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E206CD5-EE21-9D07-A253-F3A99A37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6733"/>
                    </a14:imgEffect>
                    <a14:imgEffect>
                      <a14:brightnessContrast bright="5000" contrast="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3201" y="4666346"/>
            <a:ext cx="970799" cy="29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pull/>
  </p:transition>
</p:sld>
</file>

<file path=ppt/theme/theme1.xml><?xml version="1.0" encoding="utf-8"?>
<a:theme xmlns:a="http://schemas.openxmlformats.org/drawingml/2006/main" name=" Т—Ж. Темная">
  <a:themeElements>
    <a:clrScheme name="Simple Dark">
      <a:dk1>
        <a:srgbClr val="213FFF"/>
      </a:dk1>
      <a:lt1>
        <a:srgbClr val="FFFFFF"/>
      </a:lt1>
      <a:dk2>
        <a:srgbClr val="42BC4D"/>
      </a:dk2>
      <a:lt2>
        <a:srgbClr val="FFFFFF"/>
      </a:lt2>
      <a:accent1>
        <a:srgbClr val="F54104"/>
      </a:accent1>
      <a:accent2>
        <a:srgbClr val="FFFFFF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FFFF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211</Words>
  <Application>Microsoft Office PowerPoint</Application>
  <PresentationFormat>Экран (16:9)</PresentationFormat>
  <Paragraphs>57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Roboto Mono</vt:lpstr>
      <vt:lpstr>Inter</vt:lpstr>
      <vt:lpstr>Montserrat Medium</vt:lpstr>
      <vt:lpstr>Montserrat SemiBold</vt:lpstr>
      <vt:lpstr>Arial</vt:lpstr>
      <vt:lpstr> Т—Ж. Темная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vladimir</cp:lastModifiedBy>
  <cp:revision>6</cp:revision>
  <dcterms:modified xsi:type="dcterms:W3CDTF">2025-11-13T20:39:59Z</dcterms:modified>
</cp:coreProperties>
</file>